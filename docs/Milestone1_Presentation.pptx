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18320" cy="4572000"/>
          </a:xfrm>
          <a:prstGeom prst="roundRect">
            <a:avLst/>
          </a:prstGeom>
          <a:solidFill>
            <a:srgbClr val="1A2E38"/>
          </a:solidFill>
          <a:ln w="12700">
            <a:solidFill>
              <a:srgbClr val="3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F2FE"/>
                </a:solidFill>
                <a:latin typeface="Calibri"/>
              </a:defRPr>
            </a:pPr>
            <a:r>
              <a:t>AI-Driven EV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FACFE"/>
                </a:solidFill>
                <a:latin typeface="Calibri"/>
              </a:defRPr>
            </a:pPr>
            <a:r>
              <a:t>Bridging the Gap Between Infrastructure &amp;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0E0"/>
                </a:solidFill>
                <a:latin typeface="Calibri"/>
              </a:defRPr>
            </a:pPr>
            <a:r>
              <a:t>Milestone 1: Industry Analysis &amp; Business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Prepared by: Somil Doshi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F2FE"/>
                </a:solidFill>
                <a:latin typeface="Calibri"/>
              </a:defRPr>
            </a:pPr>
            <a:r>
              <a:t>The EV Transition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Calibri"/>
              </a:defRPr>
            </a:pPr>
            <a:r>
              <a:t>The transition to electric vehicles is accelerating, but the supporting ecosystem is struggling to keep 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F2FE"/>
                </a:solidFill>
                <a:latin typeface="Calibri"/>
              </a:defRPr>
            </a:pPr>
            <a:r>
              <a:t>270k+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Registered EVs in WA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5603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F2FE"/>
                </a:solidFill>
                <a:latin typeface="Calibri"/>
              </a:defRPr>
            </a:pPr>
            <a:r>
              <a:t>$7.5B+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337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Federal Funding 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5603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F2FE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337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Projected Grid Load Increase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Data indicates massive scale, yet disjointed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F2FE"/>
                </a:solidFill>
                <a:latin typeface="Calibri"/>
              </a:defRPr>
            </a:pPr>
            <a:r>
              <a:t>Who Is Our Target Audience?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Calibri"/>
              </a:defRPr>
            </a:pPr>
            <a:r>
              <a:t>We are targeting decision-makers who allocate capital, design urban infrastructure, and distribute charging networks.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F2FE"/>
                </a:solidFill>
                <a:latin typeface="Calibri"/>
              </a:rPr>
              <a:t>•  Public Sector Planners:</a:t>
            </a:r>
            <a:r>
              <a:rPr sz="2000">
                <a:solidFill>
                  <a:srgbClr val="E0E0E0"/>
                </a:solidFill>
                <a:latin typeface="Calibri"/>
              </a:rPr>
              <a:t> City/State transport departments needing to place public chargers equitably.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F2FE"/>
                </a:solidFill>
                <a:latin typeface="Calibri"/>
              </a:rPr>
              <a:t>•  Utility Executives:</a:t>
            </a:r>
            <a:r>
              <a:rPr sz="2000">
                <a:solidFill>
                  <a:srgbClr val="E0E0E0"/>
                </a:solidFill>
                <a:latin typeface="Calibri"/>
              </a:rPr>
              <a:t> Grid managers trying to forecast localized load spikes before transformers fail.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F2FE"/>
                </a:solidFill>
                <a:latin typeface="Calibri"/>
              </a:rPr>
              <a:t>•  Real Estate Developers:</a:t>
            </a:r>
            <a:r>
              <a:rPr sz="2000">
                <a:solidFill>
                  <a:srgbClr val="E0E0E0"/>
                </a:solidFill>
                <a:latin typeface="Calibri"/>
              </a:rPr>
              <a:t> Commercial property owners calculating ROI on installing charging hubs.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F2FE"/>
                </a:solidFill>
                <a:latin typeface="Calibri"/>
              </a:defRPr>
            </a:pPr>
            <a:r>
              <a:t>Target Companies &amp; Stakeholders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1645920"/>
          </a:xfrm>
          <a:prstGeom prst="roundRect">
            <a:avLst/>
          </a:prstGeom>
          <a:solidFill>
            <a:srgbClr val="1A2E38"/>
          </a:solidFill>
          <a:ln w="12700">
            <a:solidFill>
              <a:srgbClr val="3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F2FE"/>
                </a:solidFill>
                <a:latin typeface="Calibri"/>
              </a:defRPr>
            </a:pPr>
            <a:r>
              <a:t>🔌  Utility Providers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Pacific Gas &amp; Electric (PG&amp;E)</a:t>
            </a:r>
            <a:br/>
            <a:r>
              <a:t>Seattle City Light, Duke Energy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1645920"/>
          </a:xfrm>
          <a:prstGeom prst="roundRect">
            <a:avLst/>
          </a:prstGeom>
          <a:solidFill>
            <a:srgbClr val="1A2E38"/>
          </a:solidFill>
          <a:ln w="12700">
            <a:solidFill>
              <a:srgbClr val="3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F2FE"/>
                </a:solidFill>
                <a:latin typeface="Calibri"/>
              </a:defRPr>
            </a:pPr>
            <a:r>
              <a:t>⚡  Charging Networks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ChargePoint, Electrify America</a:t>
            </a:r>
            <a:br/>
            <a:r>
              <a:t>EVgo, Tesla Supercharger Network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029200" cy="1645920"/>
          </a:xfrm>
          <a:prstGeom prst="roundRect">
            <a:avLst/>
          </a:prstGeom>
          <a:solidFill>
            <a:srgbClr val="1A2E38"/>
          </a:solidFill>
          <a:ln w="12700">
            <a:solidFill>
              <a:srgbClr val="3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776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F2FE"/>
                </a:solidFill>
                <a:latin typeface="Calibri"/>
              </a:defRPr>
            </a:pPr>
            <a:r>
              <a:t>🏛️  Government Depts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Department of Transportation (DOT)</a:t>
            </a:r>
            <a:br/>
            <a:r>
              <a:t>State Licensing Boards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029200" cy="1645920"/>
          </a:xfrm>
          <a:prstGeom prst="roundRect">
            <a:avLst/>
          </a:prstGeom>
          <a:solidFill>
            <a:srgbClr val="1A2E38"/>
          </a:solidFill>
          <a:ln w="12700">
            <a:solidFill>
              <a:srgbClr val="3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F2FE"/>
                </a:solidFill>
                <a:latin typeface="Calibri"/>
              </a:defRPr>
            </a:pPr>
            <a:r>
              <a:t>💼  Consulting Firms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8056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McKinsey, Deloitte</a:t>
            </a:r>
            <a:br/>
            <a:r>
              <a:t>Green infrastructure consultancies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F2FE"/>
                </a:solidFill>
                <a:latin typeface="Calibri"/>
              </a:defRPr>
            </a:pPr>
            <a:r>
              <a:t>The Problem We Are Solving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572000"/>
          </a:xfrm>
          <a:prstGeom prst="roundRect">
            <a:avLst/>
          </a:prstGeom>
          <a:solidFill>
            <a:srgbClr val="1A2E38"/>
          </a:solidFill>
          <a:ln w="12700">
            <a:solidFill>
              <a:srgbClr val="3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4B2B"/>
                </a:solidFill>
                <a:latin typeface="Calibri"/>
              </a:defRPr>
            </a:pPr>
            <a:r>
              <a:t>THE DATA DISCONNECT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Billions of dollars are being deployed "blindly."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Currently, quantitative data (Where are the cars?) and qualitative constraints (What grants or tax incentives exist for this specific zip code?) live in complete isolation.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Stakeholders spend weeks manually cross-referencing CSVs with 300-page government PDFs to make a single infrastructure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F2FE"/>
                </a:solidFill>
                <a:latin typeface="Calibri"/>
              </a:defRPr>
            </a:pPr>
            <a:r>
              <a:t>Challenge 1: Capital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Calibri"/>
              </a:defRPr>
            </a:pPr>
            <a:r>
              <a:t>Placing charging stations based on "gut feeling" or outdated traffic models leads to stranded assets.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F2FE"/>
                </a:solidFill>
                <a:latin typeface="Calibri"/>
              </a:rPr>
              <a:t>•  The Opportunity:</a:t>
            </a:r>
            <a:r>
              <a:rPr sz="2000">
                <a:solidFill>
                  <a:srgbClr val="E0E0E0"/>
                </a:solidFill>
                <a:latin typeface="Calibri"/>
              </a:rPr>
              <a:t> Use hyper-local registration data (zip code level) to predict exactly where adoption hotspots are naturally forming.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F2FE"/>
                </a:solidFill>
                <a:latin typeface="Calibri"/>
              </a:rPr>
              <a:t>•  The Barrier:</a:t>
            </a:r>
            <a:r>
              <a:rPr sz="2000">
                <a:solidFill>
                  <a:srgbClr val="E0E0E0"/>
                </a:solidFill>
                <a:latin typeface="Calibri"/>
              </a:rPr>
              <a:t> Unstructured and noisy government datasets lack actionable BI (Business Intelligence) layers.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F2FE"/>
                </a:solidFill>
                <a:latin typeface="Calibri"/>
              </a:defRPr>
            </a:pPr>
            <a:r>
              <a:t>Challenge 2: Hidden Grid Strain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Calibri"/>
              </a:defRPr>
            </a:pPr>
            <a:r>
              <a:t>When 50 households in a single neighborhood buy an EV, the local utility transformer can fail.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F2FE"/>
                </a:solidFill>
                <a:latin typeface="Calibri"/>
              </a:rPr>
              <a:t>•  The Opportunity:</a:t>
            </a:r>
            <a:r>
              <a:rPr sz="2000">
                <a:solidFill>
                  <a:srgbClr val="E0E0E0"/>
                </a:solidFill>
                <a:latin typeface="Calibri"/>
              </a:rPr>
              <a:t> Enable utility companies to foresee geographic adoption trends before the hardware fails.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F2FE"/>
                </a:solidFill>
                <a:latin typeface="Calibri"/>
              </a:rPr>
              <a:t>•  The Barrier:</a:t>
            </a:r>
            <a:r>
              <a:rPr sz="2000">
                <a:solidFill>
                  <a:srgbClr val="E0E0E0"/>
                </a:solidFill>
                <a:latin typeface="Calibri"/>
              </a:rPr>
              <a:t> Utilities do not automatically know when a homeowner registers a new EV; they only find out when power draw spikes.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F2FE"/>
                </a:solidFill>
                <a:latin typeface="Calibri"/>
              </a:defRPr>
            </a:pPr>
            <a:r>
              <a:t>Challenge 3: Policy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Calibri"/>
              </a:defRPr>
            </a:pPr>
            <a:r>
              <a:t>The regulatory landscape is incredibly complex.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10332720" cy="1188720"/>
          </a:xfrm>
          <a:prstGeom prst="roundRect">
            <a:avLst/>
          </a:prstGeom>
          <a:solidFill>
            <a:srgbClr val="1A2E38"/>
          </a:solidFill>
          <a:ln w="12700">
            <a:solidFill>
              <a:srgbClr val="3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Calibri"/>
              </a:defRPr>
            </a:pPr>
            <a:r>
              <a:t>"Is a 2023 Tesla Model Y Long Range eligible for the Clean Alternative Fuel Vehicle credit in King County if used for a commercial fleet?"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F2FE"/>
                </a:solidFill>
                <a:latin typeface="Calibri"/>
              </a:rPr>
              <a:t>•  The Barrier:</a:t>
            </a:r>
            <a:r>
              <a:rPr sz="2000">
                <a:solidFill>
                  <a:srgbClr val="E0E0E0"/>
                </a:solidFill>
                <a:latin typeface="Calibri"/>
              </a:rPr>
              <a:t> Finding this answer requires a lawyer or policy expert manually reading through dense legislation, creating massive bottlenecks.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F2FE"/>
                </a:solidFill>
                <a:latin typeface="Calibri"/>
              </a:rPr>
              <a:t>•  The Cost:</a:t>
            </a:r>
            <a:r>
              <a:rPr sz="2000">
                <a:solidFill>
                  <a:srgbClr val="E0E0E0"/>
                </a:solidFill>
                <a:latin typeface="Calibri"/>
              </a:rPr>
              <a:t> Delays in policy interpretation slow down deployment by months and waste millions in unclaimed incentives.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F2FE"/>
                </a:solidFill>
                <a:latin typeface="Calibri"/>
              </a:defRPr>
            </a:pPr>
            <a:r>
              <a:t>The Solution: An Intelligence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Calibri"/>
              </a:defRPr>
            </a:pPr>
            <a:r>
              <a:t>We are building an AI system that acts as a Data Engineer and a Policy Expert — simultaneously.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0F2FE"/>
                </a:solidFill>
                <a:latin typeface="Calibri"/>
              </a:rPr>
              <a:t>•  Deterministic Analytics:</a:t>
            </a:r>
            <a:r>
              <a:rPr sz="2000">
                <a:solidFill>
                  <a:srgbClr val="E0E0E0"/>
                </a:solidFill>
                <a:latin typeface="Calibri"/>
              </a:rPr>
              <a:t> Clustering algorithms process 270,000+ rows instantly to pinpoint high-demand, low-supply charger locations.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F2FE"/>
                </a:solidFill>
                <a:latin typeface="Calibri"/>
              </a:rPr>
              <a:t>•  Generative AI (RAG):</a:t>
            </a:r>
            <a:r>
              <a:rPr sz="2000">
                <a:solidFill>
                  <a:srgbClr val="E0E0E0"/>
                </a:solidFill>
                <a:latin typeface="Calibri"/>
              </a:rPr>
              <a:t> A secure, local LLM reads complex policy PDFs, letting users simply ask questions in plain English.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0F2FE"/>
                </a:solidFill>
                <a:latin typeface="Calibri"/>
              </a:rPr>
              <a:t>•  Unified Interface:</a:t>
            </a:r>
            <a:r>
              <a:rPr sz="2000">
                <a:solidFill>
                  <a:srgbClr val="E0E0E0"/>
                </a:solidFill>
                <a:latin typeface="Calibri"/>
              </a:rPr>
              <a:t> Planners see the data and the rules simultaneously on one Streamlit dashboard — no spreadsheets, no lawyers.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18320" cy="4572000"/>
          </a:xfrm>
          <a:prstGeom prst="roundRect">
            <a:avLst/>
          </a:prstGeom>
          <a:solidFill>
            <a:srgbClr val="1A2E38"/>
          </a:solidFill>
          <a:ln w="12700">
            <a:solidFill>
              <a:srgbClr val="3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F2FE"/>
                </a:solidFill>
                <a:latin typeface="Calibri"/>
              </a:defRPr>
            </a:pPr>
            <a:r>
              <a:t>Why This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E0E0"/>
                </a:solidFill>
                <a:latin typeface="Calibri"/>
              </a:defRPr>
            </a:pPr>
            <a:r>
              <a:t>By bringing Software Engineering scale and Agentic AI reasoning to the green infrastructure transition, we turn a regulatory and operational nightmare into a simple, chat-driven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Better data.  Better decisions.  Faster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